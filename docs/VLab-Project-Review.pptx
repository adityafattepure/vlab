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VLab is a classroom-first Docker lab. The key idea is one disposable container per student plus a teacher view that shows real state, not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problem around classroom friction, not just Docker. The teacher needs visibility and trustworthy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differentiator is the class workflow: join by code, start a lab, get checked, submit evidence, and let the teacher see it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three boundaries. The most important security sentence is that students never receive the Docker socket; the backend owns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feature map. Keep each module to one sentence; the next slides show the two main user journeys.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student journey. The terminal screenshot is a real build inside the sandbox; the code strip is the simple demo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teacher view is the strongest differentiator. Point out progress, last command, evidence, and read-only inspection.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about the trade-off: this is safe for a classroom demo, not for arbitrary hostile users. Production would use microVMs or dedicated hosts.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evidence. The smoke test is the strongest proof because it uses the real API, real WebSocket, real container, and real checker.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trade-off and the roadmap. Emphasise that the MVP is real: the demo runs a container, checks state, and shows the teacher the same workspace.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2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498079" y="-1097280"/>
            <a:ext cx="5669280" cy="8778240"/>
          </a:xfrm>
          <a:prstGeom prst="roundRect">
            <a:avLst>
              <a:gd name="adj" fmla="val 16000"/>
            </a:avLst>
          </a:prstGeom>
          <a:solidFill>
            <a:srgbClr val="1B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58368"/>
            <a:ext cx="658368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6035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Segoe UI"/>
              </a:rPr>
              <a:t>CBAD MINI PROJECT  ·  PROJECT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225296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>
                <a:solidFill>
                  <a:srgbClr val="FFFFFF"/>
                </a:solidFill>
                <a:latin typeface="Segoe UI"/>
              </a:rPr>
              <a:t>VLab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E2EEF8"/>
                </a:solidFill>
                <a:latin typeface="Segoe UI"/>
              </a:rPr>
              <a:t>A container-based virtual lab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E2EEF8"/>
                </a:solidFill>
                <a:latin typeface="Segoe UI"/>
              </a:rPr>
              <a:t>with live teacher visibility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4B2CC"/>
                </a:solidFill>
                <a:latin typeface="Segoe UI"/>
              </a:rPr>
              <a:t>One disposable Docker sandbox per student.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4B2CC"/>
                </a:solidFill>
                <a:latin typeface="Segoe UI"/>
              </a:rPr>
              <a:t>One live view of the whole class.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15968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E3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b="1">
                <a:solidFill>
                  <a:srgbClr val="A5F3FC"/>
                </a:solidFill>
                <a:latin typeface="Segoe UI"/>
              </a:rPr>
              <a:t>Node 22 + Express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4315968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1E3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b="1">
                <a:solidFill>
                  <a:srgbClr val="A5F3FC"/>
                </a:solidFill>
                <a:latin typeface="Segoe UI"/>
              </a:rPr>
              <a:t>React + Vite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4315968"/>
            <a:ext cx="1645920" cy="292608"/>
          </a:xfrm>
          <a:prstGeom prst="roundRect">
            <a:avLst>
              <a:gd name="adj" fmla="val 50000"/>
            </a:avLst>
          </a:prstGeom>
          <a:solidFill>
            <a:srgbClr val="1E3A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b="1">
                <a:solidFill>
                  <a:srgbClr val="A5F3FC"/>
                </a:solidFill>
                <a:latin typeface="Segoe UI"/>
              </a:rPr>
              <a:t>Docker-in-Docker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93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DD3FC"/>
                </a:solidFill>
                <a:latin typeface="Consolas"/>
              </a:rPr>
              <a:t>http://localhost:5173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4B2CC"/>
                </a:solidFill>
                <a:latin typeface="Segoe UI"/>
              </a:rPr>
              <a:t>Project review  ·  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75704" y="1033272"/>
            <a:ext cx="4846320" cy="4480560"/>
          </a:xfrm>
          <a:prstGeom prst="roundRect">
            <a:avLst>
              <a:gd name="adj" fmla="val 4000"/>
            </a:avLst>
          </a:prstGeom>
          <a:solidFill>
            <a:srgbClr val="E7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20840" y="960120"/>
            <a:ext cx="4846320" cy="44805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39128" y="978408"/>
            <a:ext cx="4809744" cy="228600"/>
          </a:xfrm>
          <a:prstGeom prst="rect">
            <a:avLst/>
          </a:prstGeom>
          <a:solidFill>
            <a:srgbClr val="EB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48856" y="1051560"/>
            <a:ext cx="64008" cy="64008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86016" y="1051560"/>
            <a:ext cx="64008" cy="6400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23176" y="1051560"/>
            <a:ext cx="64008" cy="64008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71904"/>
            <a:ext cx="4754880" cy="3103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720840" y="5522976"/>
            <a:ext cx="4846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B2CC"/>
                </a:solidFill>
                <a:latin typeface="Segoe UI"/>
              </a:rPr>
              <a:t>Sign in as a teacher or student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4747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0F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" y="347472"/>
            <a:ext cx="5669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D746E"/>
                </a:solidFill>
                <a:latin typeface="Segoe UI"/>
              </a:rPr>
              <a:t>WHY THIS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566928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23A"/>
                </a:solidFill>
                <a:latin typeface="Segoe UI"/>
              </a:rPr>
              <a:t>Docker labs break before the learning starts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PROJECT REVIEW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19672"/>
            <a:ext cx="822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02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170432"/>
            <a:ext cx="10287000" cy="10972"/>
          </a:xfrm>
          <a:prstGeom prst="rect">
            <a:avLst/>
          </a:prstGeom>
          <a:solidFill>
            <a:srgbClr val="D6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VLab  ·  Container-based virtual lab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554480"/>
            <a:ext cx="3456432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37360"/>
            <a:ext cx="502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6B6D4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084831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23A"/>
                </a:solidFill>
                <a:latin typeface="Segoe UI"/>
              </a:rPr>
              <a:t>Setup drift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523744"/>
            <a:ext cx="290779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Docker Desktop, ports, images, and permissions differ on every laptop. One broken install stalls the practical.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1554480"/>
            <a:ext cx="3456432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737360"/>
            <a:ext cx="502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6B6D4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084831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23A"/>
                </a:solidFill>
                <a:latin typeface="Segoe UI"/>
              </a:rPr>
              <a:t>No live visibility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523744"/>
            <a:ext cx="290779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The teacher cannot see who is running commands, who is stuck, or which task is failing right now.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1554480"/>
            <a:ext cx="3456432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1737360"/>
            <a:ext cx="502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6B6D4"/>
                </a:solidFill>
                <a:latin typeface="Consola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084831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223A"/>
                </a:solidFill>
                <a:latin typeface="Segoe UI"/>
              </a:rPr>
              <a:t>Manual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2523744"/>
            <a:ext cx="290779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End-of-lab screenshots are easy to fake, slow to collect, and hard to review consistently.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407408"/>
            <a:ext cx="10972800" cy="1143000"/>
          </a:xfrm>
          <a:prstGeom prst="roundRect">
            <a:avLst>
              <a:gd name="adj" fmla="val 8000"/>
            </a:avLst>
          </a:prstGeom>
          <a:solidFill>
            <a:srgbClr val="E0F4F1"/>
          </a:solidFill>
          <a:ln w="12700">
            <a:solidFill>
              <a:srgbClr val="A7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6177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D746E"/>
                </a:solidFill>
                <a:latin typeface="Segoe UI"/>
              </a:rPr>
              <a:t>VLab gives every student a disposable container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D746E"/>
                </a:solidFill>
                <a:latin typeface="Segoe UI"/>
              </a:rPr>
              <a:t>and gives the teacher one live view of the class.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4747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0F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" y="347472"/>
            <a:ext cx="5669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D746E"/>
                </a:solidFill>
                <a:latin typeface="Segoe UI"/>
              </a:rPr>
              <a:t>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566928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23A"/>
                </a:solidFill>
                <a:latin typeface="Segoe UI"/>
              </a:rPr>
              <a:t>A class workflow around a disposable sandbox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PROJECT REVIEW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19672"/>
            <a:ext cx="822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03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170432"/>
            <a:ext cx="10287000" cy="10972"/>
          </a:xfrm>
          <a:prstGeom prst="rect">
            <a:avLst/>
          </a:prstGeom>
          <a:solidFill>
            <a:srgbClr val="D6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VLab  ·  Container-based virtual lab</a:t>
            </a:r>
          </a:p>
        </p:txBody>
      </p:sp>
      <p:sp>
        <p:nvSpPr>
          <p:cNvPr id="10" name="Oval 9"/>
          <p:cNvSpPr/>
          <p:nvPr/>
        </p:nvSpPr>
        <p:spPr>
          <a:xfrm>
            <a:off x="621792" y="1481328"/>
            <a:ext cx="347472" cy="347472"/>
          </a:xfrm>
          <a:prstGeom prst="ellipse">
            <a:avLst/>
          </a:prstGeom>
          <a:solidFill>
            <a:srgbClr val="0D7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463040"/>
            <a:ext cx="37490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23A"/>
                </a:solidFill>
                <a:latin typeface="Segoe UI"/>
              </a:rPr>
              <a:t>Isolated by default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737360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Each student gets a private Docker-in-Docker container. Their work never touches the host.</a:t>
            </a:r>
          </a:p>
        </p:txBody>
      </p:sp>
      <p:sp>
        <p:nvSpPr>
          <p:cNvPr id="13" name="Oval 12"/>
          <p:cNvSpPr/>
          <p:nvPr/>
        </p:nvSpPr>
        <p:spPr>
          <a:xfrm>
            <a:off x="621792" y="2551176"/>
            <a:ext cx="347472" cy="347472"/>
          </a:xfrm>
          <a:prstGeom prst="ellipse">
            <a:avLst/>
          </a:prstGeom>
          <a:solidFill>
            <a:srgbClr val="0D7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532888"/>
            <a:ext cx="37490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23A"/>
                </a:solidFill>
                <a:latin typeface="Segoe UI"/>
              </a:rPr>
              <a:t>Everything in the browser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807208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Terminal, file editor, and read-only Docker inventory in one lab workspace.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" y="3621024"/>
            <a:ext cx="347472" cy="347472"/>
          </a:xfrm>
          <a:prstGeom prst="ellipse">
            <a:avLst/>
          </a:prstGeom>
          <a:solidFill>
            <a:srgbClr val="0D7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3602736"/>
            <a:ext cx="37490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23A"/>
                </a:solidFill>
                <a:latin typeface="Segoe UI"/>
              </a:rPr>
              <a:t>Checks inspect state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3877056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Tasks verify files and containers, not keystrokes, so completion is honest and repeatable.</a:t>
            </a:r>
          </a:p>
        </p:txBody>
      </p:sp>
      <p:sp>
        <p:nvSpPr>
          <p:cNvPr id="19" name="Oval 18"/>
          <p:cNvSpPr/>
          <p:nvPr/>
        </p:nvSpPr>
        <p:spPr>
          <a:xfrm>
            <a:off x="621792" y="4690872"/>
            <a:ext cx="347472" cy="347472"/>
          </a:xfrm>
          <a:prstGeom prst="ellipse">
            <a:avLst/>
          </a:prstGeom>
          <a:solidFill>
            <a:srgbClr val="0D7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672584"/>
            <a:ext cx="37490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23A"/>
                </a:solidFill>
                <a:latin typeface="Segoe UI"/>
              </a:rPr>
              <a:t>Teacher in the 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946904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Live roster, task progress, last command, evidence review, and read-only inspection.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86984" y="1463040"/>
            <a:ext cx="6035040" cy="4480560"/>
          </a:xfrm>
          <a:prstGeom prst="roundRect">
            <a:avLst>
              <a:gd name="adj" fmla="val 4000"/>
            </a:avLst>
          </a:prstGeom>
          <a:solidFill>
            <a:srgbClr val="E7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532120" y="1389888"/>
            <a:ext cx="6035040" cy="44805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550408" y="1408176"/>
            <a:ext cx="5998464" cy="228600"/>
          </a:xfrm>
          <a:prstGeom prst="rect">
            <a:avLst/>
          </a:prstGeom>
          <a:solidFill>
            <a:srgbClr val="EB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60136" y="1481328"/>
            <a:ext cx="64008" cy="64008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97296" y="1481328"/>
            <a:ext cx="64008" cy="6400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34456" y="1481328"/>
            <a:ext cx="64008" cy="64008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tudent-l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813687"/>
            <a:ext cx="5943600" cy="38798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32120" y="5952744"/>
            <a:ext cx="6035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Student workspace: assignments, task progress, and evidence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4747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0F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" y="347472"/>
            <a:ext cx="5669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D746E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566928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23A"/>
                </a:solidFill>
                <a:latin typeface="Segoe UI"/>
              </a:rPr>
              <a:t>Three boundaries: browser, backend,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PROJECT REVIEW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19672"/>
            <a:ext cx="822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04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170432"/>
            <a:ext cx="10287000" cy="10972"/>
          </a:xfrm>
          <a:prstGeom prst="rect">
            <a:avLst/>
          </a:prstGeom>
          <a:solidFill>
            <a:srgbClr val="D6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VLab  ·  Container-based virtual lab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00200"/>
            <a:ext cx="2423160" cy="2103120"/>
          </a:xfrm>
          <a:prstGeom prst="roundRect">
            <a:avLst>
              <a:gd name="adj" fmla="val 8000"/>
            </a:avLst>
          </a:prstGeom>
          <a:solidFill>
            <a:srgbClr val="0F223A"/>
          </a:solidFill>
          <a:ln w="12700">
            <a:solidFill>
              <a:srgbClr val="0F2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810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Browser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176272"/>
            <a:ext cx="20299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FCDE1"/>
                </a:solidFill>
                <a:latin typeface="Segoe UI"/>
              </a:rPr>
              <a:t>React 19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FCDE1"/>
                </a:solidFill>
                <a:latin typeface="Segoe UI"/>
              </a:rPr>
              <a:t>xterm.js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FCDE1"/>
                </a:solidFill>
                <a:latin typeface="Segoe UI"/>
              </a:rPr>
              <a:t>CodeMirror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10128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DD3FC"/>
                </a:solidFill>
                <a:latin typeface="Segoe UI"/>
              </a:rPr>
              <a:t>No Docker socket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990088" y="2468880"/>
            <a:ext cx="274320" cy="201168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64991" y="1600200"/>
            <a:ext cx="24231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1" y="1810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23A"/>
                </a:solidFill>
                <a:latin typeface="Segoe UI"/>
              </a:rPr>
              <a:t>Frontend +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1" y="2176272"/>
            <a:ext cx="20299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nginx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Express 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REST + WebSocket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1" y="3310128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D746E"/>
                </a:solidFill>
                <a:latin typeface="Segoe UI"/>
              </a:rPr>
              <a:t>Auth and ownership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852159" y="2468880"/>
            <a:ext cx="274320" cy="201168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27064" y="1600200"/>
            <a:ext cx="2423160" cy="2103120"/>
          </a:xfrm>
          <a:prstGeom prst="roundRect">
            <a:avLst>
              <a:gd name="adj" fmla="val 8000"/>
            </a:avLst>
          </a:prstGeom>
          <a:solidFill>
            <a:srgbClr val="0F223A"/>
          </a:solidFill>
          <a:ln w="12700">
            <a:solidFill>
              <a:srgbClr val="0F2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9944" y="1810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Docker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2176272"/>
            <a:ext cx="20299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FCDE1"/>
                </a:solidFill>
                <a:latin typeface="Segoe UI"/>
              </a:rPr>
              <a:t>dockerode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FCDE1"/>
                </a:solidFill>
                <a:latin typeface="Segoe UI"/>
              </a:rPr>
              <a:t>Host daemon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FCDE1"/>
                </a:solidFill>
                <a:latin typeface="Segoe UI"/>
              </a:rPr>
              <a:t>Resource limits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3310128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DD3FC"/>
                </a:solidFill>
                <a:latin typeface="Segoe UI"/>
              </a:rPr>
              <a:t>Only the backend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714232" y="2468880"/>
            <a:ext cx="274320" cy="201168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89136" y="1600200"/>
            <a:ext cx="24231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72016" y="1810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23A"/>
                </a:solidFill>
                <a:latin typeface="Segoe UI"/>
              </a:rPr>
              <a:t>Student sandbox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2016" y="2176272"/>
            <a:ext cx="20299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DinD container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Inner daemon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Private /root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72016" y="3310128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D746E"/>
                </a:solidFill>
                <a:latin typeface="Segoe UI"/>
              </a:rPr>
              <a:t>One per student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005072"/>
            <a:ext cx="534924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160520"/>
            <a:ext cx="4754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746E"/>
                </a:solidFill>
                <a:latin typeface="Segoe UI"/>
              </a:rPr>
              <a:t>Control plane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425696"/>
            <a:ext cx="47548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2937"/>
                </a:solidFill>
                <a:latin typeface="Segoe UI"/>
              </a:rPr>
              <a:t>JWT auth · class membership · session lifecycle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2937"/>
                </a:solidFill>
                <a:latin typeface="Segoe UI"/>
              </a:rPr>
              <a:t>checker · file read/write · Docker inventory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4005072"/>
            <a:ext cx="534924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4160520"/>
            <a:ext cx="4754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746E"/>
                </a:solidFill>
                <a:latin typeface="Segoe UI"/>
              </a:rPr>
              <a:t>Data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425696"/>
            <a:ext cx="47548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2937"/>
                </a:solidFill>
                <a:latin typeface="Segoe UI"/>
              </a:rPr>
              <a:t>WebSocket terminal · docker exec · fixed commands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2937"/>
                </a:solidFill>
                <a:latin typeface="Segoe UI"/>
              </a:rPr>
              <a:t>per-session checks · read-only teacher attach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504688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The terminal is a docker exec into the student's own container. The browser never receives /var/run/docker.sock.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4747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0F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" y="347472"/>
            <a:ext cx="5669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D746E"/>
                </a:solidFill>
                <a:latin typeface="Segoe UI"/>
              </a:rPr>
              <a:t>INSIDE THE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566928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23A"/>
                </a:solidFill>
                <a:latin typeface="Segoe UI"/>
              </a:rPr>
              <a:t>Small modules with clear jobs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PROJECT REVIEW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19672"/>
            <a:ext cx="822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05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170432"/>
            <a:ext cx="10287000" cy="10972"/>
          </a:xfrm>
          <a:prstGeom prst="rect">
            <a:avLst/>
          </a:prstGeom>
          <a:solidFill>
            <a:srgbClr val="D6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VLab  ·  Container-based virtual lab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08760"/>
            <a:ext cx="349300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08760"/>
            <a:ext cx="54864" cy="16002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709928"/>
            <a:ext cx="3063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23A"/>
                </a:solidFill>
                <a:latin typeface="Segoe UI"/>
              </a:rPr>
              <a:t>Labs &amp; assignments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075688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Handout labs, a short demo tour, and practice labs. Exact task steps and due dates.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4256" y="1508760"/>
            <a:ext cx="349300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4256" y="1508760"/>
            <a:ext cx="54864" cy="1600200"/>
          </a:xfrm>
          <a:prstGeom prst="rect">
            <a:avLst/>
          </a:prstGeom>
          <a:solidFill>
            <a:srgbClr val="0D7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6" y="1709928"/>
            <a:ext cx="3063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23A"/>
                </a:solidFill>
                <a:latin typeface="Segoe UI"/>
              </a:rPr>
              <a:t>Checker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6" y="2075688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15 s timeout, serialized per session, 30 s background loop plus a manual check button.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1583" y="1508760"/>
            <a:ext cx="349300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1583" y="1508760"/>
            <a:ext cx="54864" cy="16002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0183" y="1709928"/>
            <a:ext cx="3063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23A"/>
                </a:solidFill>
                <a:latin typeface="Segoe UI"/>
              </a:rPr>
              <a:t>Terminal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0183" y="2075688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xterm.js over WebSocket, shared exec, scrollback, and read-only teacher attach.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83279"/>
            <a:ext cx="349300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383279"/>
            <a:ext cx="54864" cy="1600200"/>
          </a:xfrm>
          <a:prstGeom prst="rect">
            <a:avLst/>
          </a:prstGeom>
          <a:solidFill>
            <a:srgbClr val="0D7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" y="3584447"/>
            <a:ext cx="3063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23A"/>
                </a:solidFill>
                <a:latin typeface="Segoe UI"/>
              </a:rPr>
              <a:t>Workspace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" y="3950207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/root file listing, UTF-8 reads/writes, 256 KiB cap, teacher read-only.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34256" y="3383279"/>
            <a:ext cx="349300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34256" y="3383279"/>
            <a:ext cx="54864" cy="16002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62856" y="3584447"/>
            <a:ext cx="3063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23A"/>
                </a:solidFill>
                <a:latin typeface="Segoe UI"/>
              </a:rPr>
              <a:t>Docker inventory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62856" y="3950207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Fixed ps / images / networks / volumes commands, capped at 200 rows.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3" y="3383279"/>
            <a:ext cx="349300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01583" y="3383279"/>
            <a:ext cx="54864" cy="1600200"/>
          </a:xfrm>
          <a:prstGeom prst="rect">
            <a:avLst/>
          </a:prstGeom>
          <a:solidFill>
            <a:srgbClr val="0D7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0183" y="3584447"/>
            <a:ext cx="3063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23A"/>
                </a:solidFill>
                <a:latin typeface="Segoe UI"/>
              </a:rPr>
              <a:t>Evidence &amp; grades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0183" y="3950207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Uploads, feedback, protected downloads, and a student-visible grade.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55046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D746E"/>
                </a:solidFill>
                <a:latin typeface="Segoe UI"/>
              </a:rPr>
              <a:t>No arbitrary Docker API proxy. No host shell. No student access to the host daemon.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4747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0F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" y="347472"/>
            <a:ext cx="5669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D746E"/>
                </a:solidFill>
                <a:latin typeface="Segoe UI"/>
              </a:rPr>
              <a:t>STUDENT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566928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23A"/>
                </a:solidFill>
                <a:latin typeface="Segoe UI"/>
              </a:rPr>
              <a:t>From join code to checked work in one 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PROJECT REVIEW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19672"/>
            <a:ext cx="822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06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170432"/>
            <a:ext cx="10287000" cy="10972"/>
          </a:xfrm>
          <a:prstGeom prst="rect">
            <a:avLst/>
          </a:prstGeom>
          <a:solidFill>
            <a:srgbClr val="D6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VLab  ·  Container-based virtual lab</a:t>
            </a:r>
          </a:p>
        </p:txBody>
      </p:sp>
      <p:sp>
        <p:nvSpPr>
          <p:cNvPr id="10" name="Oval 9"/>
          <p:cNvSpPr/>
          <p:nvPr/>
        </p:nvSpPr>
        <p:spPr>
          <a:xfrm>
            <a:off x="621792" y="1481328"/>
            <a:ext cx="310896" cy="310896"/>
          </a:xfrm>
          <a:prstGeom prst="ellipse">
            <a:avLst/>
          </a:prstGeom>
          <a:solidFill>
            <a:srgbClr val="0D7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1472184"/>
            <a:ext cx="4407408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223A"/>
                </a:solidFill>
                <a:latin typeface="Segoe UI"/>
              </a:rPr>
              <a:t>Join the class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1700784"/>
            <a:ext cx="4407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Use the class code, or sign in with a seeded student account.</a:t>
            </a:r>
          </a:p>
        </p:txBody>
      </p:sp>
      <p:sp>
        <p:nvSpPr>
          <p:cNvPr id="13" name="Oval 12"/>
          <p:cNvSpPr/>
          <p:nvPr/>
        </p:nvSpPr>
        <p:spPr>
          <a:xfrm>
            <a:off x="621792" y="2194560"/>
            <a:ext cx="310896" cy="310896"/>
          </a:xfrm>
          <a:prstGeom prst="ellipse">
            <a:avLst/>
          </a:prstGeom>
          <a:solidFill>
            <a:srgbClr val="0D7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" y="2185416"/>
            <a:ext cx="4407408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223A"/>
                </a:solidFill>
                <a:latin typeface="Segoe UI"/>
              </a:rPr>
              <a:t>Start a lab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" y="2414016"/>
            <a:ext cx="4407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VLab provisions a private DinD container and waits for the inner daemon.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" y="2907792"/>
            <a:ext cx="310896" cy="310896"/>
          </a:xfrm>
          <a:prstGeom prst="ellipse">
            <a:avLst/>
          </a:prstGeom>
          <a:solidFill>
            <a:srgbClr val="0D7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898648"/>
            <a:ext cx="4407408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223A"/>
                </a:solidFill>
                <a:latin typeface="Segoe UI"/>
              </a:rPr>
              <a:t>Run the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" y="3127248"/>
            <a:ext cx="4407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Use the live terminal, or edit files in the Code tab.</a:t>
            </a:r>
          </a:p>
        </p:txBody>
      </p:sp>
      <p:sp>
        <p:nvSpPr>
          <p:cNvPr id="19" name="Oval 18"/>
          <p:cNvSpPr/>
          <p:nvPr/>
        </p:nvSpPr>
        <p:spPr>
          <a:xfrm>
            <a:off x="621792" y="3621024"/>
            <a:ext cx="310896" cy="310896"/>
          </a:xfrm>
          <a:prstGeom prst="ellipse">
            <a:avLst/>
          </a:prstGeom>
          <a:solidFill>
            <a:srgbClr val="0D7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3611880"/>
            <a:ext cx="4407408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223A"/>
                </a:solidFill>
                <a:latin typeface="Segoe UI"/>
              </a:rPr>
              <a:t>Check my 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" y="3840480"/>
            <a:ext cx="4407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State-based checks turn green when the files and containers exist.</a:t>
            </a:r>
          </a:p>
        </p:txBody>
      </p:sp>
      <p:sp>
        <p:nvSpPr>
          <p:cNvPr id="22" name="Oval 21"/>
          <p:cNvSpPr/>
          <p:nvPr/>
        </p:nvSpPr>
        <p:spPr>
          <a:xfrm>
            <a:off x="621792" y="4334256"/>
            <a:ext cx="310896" cy="310896"/>
          </a:xfrm>
          <a:prstGeom prst="ellipse">
            <a:avLst/>
          </a:prstGeom>
          <a:solidFill>
            <a:srgbClr val="0D7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" y="4325112"/>
            <a:ext cx="4407408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223A"/>
                </a:solidFill>
                <a:latin typeface="Segoe UI"/>
              </a:rPr>
              <a:t>Submit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4553712"/>
            <a:ext cx="4407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Attach a screenshot or PDF; the teacher can review and grade 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5212080"/>
            <a:ext cx="4709160" cy="932688"/>
          </a:xfrm>
          <a:prstGeom prst="roundRect">
            <a:avLst>
              <a:gd name="adj" fmla="val 8000"/>
            </a:avLst>
          </a:prstGeom>
          <a:solidFill>
            <a:srgbClr val="0F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5303520"/>
            <a:ext cx="4416552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1FAE5"/>
                </a:solidFill>
                <a:latin typeface="Consolas"/>
              </a:rPr>
              <a:t>docker run -d --name basic-web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1FAE5"/>
                </a:solidFill>
                <a:latin typeface="Consolas"/>
              </a:rPr>
              <a:t>  -p 8080:80 nginx:alpine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1FAE5"/>
                </a:solidFill>
                <a:latin typeface="Consolas"/>
              </a:rPr>
              <a:t>curl -fsS http://localhost:8080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1FAE5"/>
                </a:solidFill>
                <a:latin typeface="Consolas"/>
              </a:rPr>
              <a:t>  &gt; /root/demo/page.html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50992" y="1490472"/>
            <a:ext cx="5989320" cy="4572000"/>
          </a:xfrm>
          <a:prstGeom prst="roundRect">
            <a:avLst>
              <a:gd name="adj" fmla="val 4000"/>
            </a:avLst>
          </a:prstGeom>
          <a:solidFill>
            <a:srgbClr val="E7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596128" y="1417320"/>
            <a:ext cx="5989320" cy="457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14416" y="1435608"/>
            <a:ext cx="5952744" cy="228600"/>
          </a:xfrm>
          <a:prstGeom prst="rect">
            <a:avLst/>
          </a:prstGeom>
          <a:solidFill>
            <a:srgbClr val="EB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724144" y="1508760"/>
            <a:ext cx="64008" cy="64008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861304" y="1508760"/>
            <a:ext cx="64008" cy="6400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998464" y="1508760"/>
            <a:ext cx="64008" cy="64008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tudent-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1901761"/>
            <a:ext cx="5897880" cy="3850005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596128" y="6071616"/>
            <a:ext cx="5989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A real shell in the browser, connected to the student's container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4747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0F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" y="347472"/>
            <a:ext cx="5669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D746E"/>
                </a:solidFill>
                <a:latin typeface="Segoe UI"/>
              </a:rPr>
              <a:t>TEACHER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566928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23A"/>
                </a:solidFill>
                <a:latin typeface="Segoe UI"/>
              </a:rPr>
              <a:t>See the class, not just the final screenshot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PROJECT REVIEW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19672"/>
            <a:ext cx="822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07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170432"/>
            <a:ext cx="10287000" cy="10972"/>
          </a:xfrm>
          <a:prstGeom prst="rect">
            <a:avLst/>
          </a:prstGeom>
          <a:solidFill>
            <a:srgbClr val="D6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VLab  ·  Container-based virtual lab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490472"/>
            <a:ext cx="6903720" cy="4572000"/>
          </a:xfrm>
          <a:prstGeom prst="roundRect">
            <a:avLst>
              <a:gd name="adj" fmla="val 4000"/>
            </a:avLst>
          </a:prstGeom>
          <a:solidFill>
            <a:srgbClr val="E7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17320"/>
            <a:ext cx="6903720" cy="4572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216" y="1435608"/>
            <a:ext cx="6867144" cy="228600"/>
          </a:xfrm>
          <a:prstGeom prst="rect">
            <a:avLst/>
          </a:prstGeom>
          <a:solidFill>
            <a:srgbClr val="EB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94944" y="1508760"/>
            <a:ext cx="64008" cy="64008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2104" y="1508760"/>
            <a:ext cx="64008" cy="6400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9264" y="1508760"/>
            <a:ext cx="64008" cy="64008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eacher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983" y="1719072"/>
            <a:ext cx="6457609" cy="42153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6928" y="6071616"/>
            <a:ext cx="6903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Four classes, live labs, and evidence waiting for review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1536192"/>
            <a:ext cx="1051560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609344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23A"/>
                </a:solidFill>
                <a:latin typeface="Segoe U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197510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classes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18120" y="2523744"/>
            <a:ext cx="1051560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36992" y="2596896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23A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36992" y="2962656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seeded students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18120" y="3511296"/>
            <a:ext cx="1051560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6992" y="358444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23A"/>
                </a:solidFill>
                <a:latin typeface="Segoe U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36992" y="3950208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live lab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4498848"/>
            <a:ext cx="1051560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457200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23A"/>
                </a:solidFill>
                <a:latin typeface="Segoe U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36992" y="493776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to 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1554480"/>
            <a:ext cx="2560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000" b="1">
                <a:solidFill>
                  <a:srgbClr val="0D746E"/>
                </a:solidFill>
                <a:latin typeface="Segoe UI"/>
              </a:rPr>
              <a:t>•  </a:t>
            </a:r>
            <a:r>
              <a:rPr sz="1000">
                <a:solidFill>
                  <a:srgbClr val="1F2937"/>
                </a:solidFill>
                <a:latin typeface="Segoe UI"/>
              </a:rPr>
              <a:t>Roster grid with per-task ticks and progress %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000" b="1">
                <a:solidFill>
                  <a:srgbClr val="0D746E"/>
                </a:solidFill>
                <a:latin typeface="Segoe UI"/>
              </a:rPr>
              <a:t>•  </a:t>
            </a:r>
            <a:r>
              <a:rPr sz="1000">
                <a:solidFill>
                  <a:srgbClr val="1F2937"/>
                </a:solidFill>
                <a:latin typeface="Segoe UI"/>
              </a:rPr>
              <a:t>Last command and last activity for each student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000" b="1">
                <a:solidFill>
                  <a:srgbClr val="0D746E"/>
                </a:solidFill>
                <a:latin typeface="Segoe UI"/>
              </a:rPr>
              <a:t>•  </a:t>
            </a:r>
            <a:r>
              <a:rPr sz="1000">
                <a:solidFill>
                  <a:srgbClr val="1F2937"/>
                </a:solidFill>
                <a:latin typeface="Segoe UI"/>
              </a:rPr>
              <a:t>Read-only terminal, files, and Docker inventory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000" b="1">
                <a:solidFill>
                  <a:srgbClr val="0D746E"/>
                </a:solidFill>
                <a:latin typeface="Segoe UI"/>
              </a:rPr>
              <a:t>•  </a:t>
            </a:r>
            <a:r>
              <a:rPr sz="1000">
                <a:solidFill>
                  <a:srgbClr val="1F2937"/>
                </a:solidFill>
                <a:latin typeface="Segoe UI"/>
              </a:rPr>
              <a:t>Evidence queue with feedback and grades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4747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0F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" y="347472"/>
            <a:ext cx="5669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D746E"/>
                </a:solidFill>
                <a:latin typeface="Segoe UI"/>
              </a:rPr>
              <a:t>TRUST BOUNDARIES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566928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23A"/>
                </a:solidFill>
                <a:latin typeface="Segoe UI"/>
              </a:rPr>
              <a:t>Isolation that fits a classroom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PROJECT REVIEW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19672"/>
            <a:ext cx="822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08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170432"/>
            <a:ext cx="10287000" cy="10972"/>
          </a:xfrm>
          <a:prstGeom prst="rect">
            <a:avLst/>
          </a:prstGeom>
          <a:solidFill>
            <a:srgbClr val="D6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VLab  ·  Container-based virtual lab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536192"/>
            <a:ext cx="3063240" cy="1600200"/>
          </a:xfrm>
          <a:prstGeom prst="roundRect">
            <a:avLst>
              <a:gd name="adj" fmla="val 8000"/>
            </a:avLst>
          </a:prstGeom>
          <a:solidFill>
            <a:srgbClr val="E2EEF8"/>
          </a:solidFill>
          <a:ln w="12700">
            <a:solidFill>
              <a:srgbClr val="E2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71907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223A"/>
                </a:solidFill>
                <a:latin typeface="Segoe UI"/>
              </a:rPr>
              <a:t>Browser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084831"/>
            <a:ext cx="2651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F2937"/>
                </a:solidFill>
                <a:latin typeface="Segoe UI"/>
              </a:rPr>
              <a:t>JWT + role checks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F2937"/>
                </a:solidFill>
                <a:latin typeface="Segoe UI"/>
              </a:rPr>
              <a:t>No Docker socket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F2937"/>
                </a:solidFill>
                <a:latin typeface="Segoe UI"/>
              </a:rPr>
              <a:t>Teacher input dropped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739896" y="2240280"/>
            <a:ext cx="182880" cy="18288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77640" y="1536192"/>
            <a:ext cx="3063240" cy="1600200"/>
          </a:xfrm>
          <a:prstGeom prst="roundRect">
            <a:avLst>
              <a:gd name="adj" fmla="val 8000"/>
            </a:avLst>
          </a:prstGeom>
          <a:solidFill>
            <a:srgbClr val="E0F4F1"/>
          </a:solidFill>
          <a:ln w="12700">
            <a:solidFill>
              <a:srgbClr val="E0F4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78808" y="171907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D746E"/>
                </a:solidFill>
                <a:latin typeface="Segoe UI"/>
              </a:rPr>
              <a:t>Backend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78808" y="2084831"/>
            <a:ext cx="2651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F2937"/>
                </a:solidFill>
                <a:latin typeface="Segoe UI"/>
              </a:rPr>
              <a:t>Owns docker.sock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F2937"/>
                </a:solidFill>
                <a:latin typeface="Segoe UI"/>
              </a:rPr>
              <a:t>Ownership checks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F2937"/>
                </a:solidFill>
                <a:latin typeface="Segoe UI"/>
              </a:rPr>
              <a:t>Fixed inventory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23176" y="2240280"/>
            <a:ext cx="182880" cy="18288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60920" y="1536192"/>
            <a:ext cx="3063240" cy="1600200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>
            <a:solidFill>
              <a:srgbClr val="FFF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2088" y="171907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Segoe UI"/>
              </a:rPr>
              <a:t>Runtime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2088" y="2084831"/>
            <a:ext cx="2651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F2937"/>
                </a:solidFill>
                <a:latin typeface="Segoe UI"/>
              </a:rPr>
              <a:t>1 GB / 1 CPU / 512 PIDs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F2937"/>
                </a:solidFill>
                <a:latin typeface="Segoe UI"/>
              </a:rPr>
              <a:t>Per-student DinD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F2937"/>
                </a:solidFill>
                <a:latin typeface="Segoe UI"/>
              </a:rPr>
              <a:t>Private /root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61188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200" b="1">
                <a:solidFill>
                  <a:srgbClr val="0D746E"/>
                </a:solidFill>
                <a:latin typeface="Segoe UI"/>
              </a:rPr>
              <a:t>•  </a:t>
            </a:r>
            <a:r>
              <a:rPr sz="1200">
                <a:solidFill>
                  <a:srgbClr val="1F2937"/>
                </a:solidFill>
                <a:latin typeface="Segoe UI"/>
              </a:rPr>
              <a:t>Path-normalised /root files, UTF-8 only, 256 KiB maximum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200" b="1">
                <a:solidFill>
                  <a:srgbClr val="0D746E"/>
                </a:solidFill>
                <a:latin typeface="Segoe UI"/>
              </a:rPr>
              <a:t>•  </a:t>
            </a:r>
            <a:r>
              <a:rPr sz="1200">
                <a:solidFill>
                  <a:srgbClr val="1F2937"/>
                </a:solidFill>
                <a:latin typeface="Segoe UI"/>
              </a:rPr>
              <a:t>Teacher file writes return 403; teacher terminal input is dropped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200" b="1">
                <a:solidFill>
                  <a:srgbClr val="0D746E"/>
                </a:solidFill>
                <a:latin typeface="Segoe UI"/>
              </a:rPr>
              <a:t>•  </a:t>
            </a:r>
            <a:r>
              <a:rPr sz="1200">
                <a:solidFill>
                  <a:srgbClr val="1F2937"/>
                </a:solidFill>
                <a:latin typeface="Segoe UI"/>
              </a:rPr>
              <a:t>Docker inventory is a fixed allowlist, not a proxy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200" b="1">
                <a:solidFill>
                  <a:srgbClr val="0D746E"/>
                </a:solidFill>
                <a:latin typeface="Segoe UI"/>
              </a:rPr>
              <a:t>•  </a:t>
            </a:r>
            <a:r>
              <a:rPr sz="1200">
                <a:solidFill>
                  <a:srgbClr val="1F2937"/>
                </a:solidFill>
                <a:latin typeface="Segoe UI"/>
              </a:rPr>
              <a:t>Command logging is advisory; checks never read the log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3584448"/>
            <a:ext cx="51206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376732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D97706"/>
                </a:solidFill>
                <a:latin typeface="Segoe UI"/>
              </a:rPr>
              <a:t>Deliberate boundary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059936"/>
            <a:ext cx="4526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223A"/>
                </a:solidFill>
                <a:latin typeface="Segoe UI"/>
              </a:rPr>
              <a:t>DinD is privileged by design. Isolation is namespace-level, not a hostile multi-tenant boundary.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526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For production: microVM per student or dedicated lab hosts.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4747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0F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" y="347472"/>
            <a:ext cx="5669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D746E"/>
                </a:solidFill>
                <a:latin typeface="Segoe UI"/>
              </a:rPr>
              <a:t>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566928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23A"/>
                </a:solidFill>
                <a:latin typeface="Segoe UI"/>
              </a:rPr>
              <a:t>Verified with real containers, not mocks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PROJECT REVIEW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19672"/>
            <a:ext cx="822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09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170432"/>
            <a:ext cx="10287000" cy="10972"/>
          </a:xfrm>
          <a:prstGeom prst="rect">
            <a:avLst/>
          </a:prstGeom>
          <a:solidFill>
            <a:srgbClr val="D6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9672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VLab  ·  Container-based virtual lab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50876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2011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23A"/>
                </a:solidFill>
                <a:latin typeface="Segoe UI"/>
              </a:rPr>
              <a:t>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backend unit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50876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8728" y="1627632"/>
            <a:ext cx="2011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23A"/>
                </a:solidFill>
                <a:latin typeface="Segoe UI"/>
              </a:rPr>
              <a:t>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2148840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smoke checks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17336" y="150876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6" y="1627632"/>
            <a:ext cx="2011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23A"/>
                </a:solidFill>
                <a:latin typeface="Segoe UI"/>
              </a:rPr>
              <a:t>4/4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2148840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checks in the demo lab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78824" y="150876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1704" y="1627632"/>
            <a:ext cx="2011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23A"/>
                </a:solidFill>
                <a:latin typeface="Segoe UI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61704" y="2148840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frontend build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2971800"/>
            <a:ext cx="56692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200" b="1">
                <a:solidFill>
                  <a:srgbClr val="0D746E"/>
                </a:solidFill>
                <a:latin typeface="Segoe UI"/>
              </a:rPr>
              <a:t>•  </a:t>
            </a:r>
            <a:r>
              <a:rPr sz="1200">
                <a:solidFill>
                  <a:srgbClr val="1F2937"/>
                </a:solidFill>
                <a:latin typeface="Segoe UI"/>
              </a:rPr>
              <a:t>Login, class join, assignment visibility, and teacher dashboard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200" b="1">
                <a:solidFill>
                  <a:srgbClr val="0D746E"/>
                </a:solidFill>
                <a:latin typeface="Segoe UI"/>
              </a:rPr>
              <a:t>•  </a:t>
            </a:r>
            <a:r>
              <a:rPr sz="1200">
                <a:solidFill>
                  <a:srgbClr val="1F2937"/>
                </a:solidFill>
                <a:latin typeface="Segoe UI"/>
              </a:rPr>
              <a:t>Real DinD provisioning, WebSocket terminal, and command logging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200" b="1">
                <a:solidFill>
                  <a:srgbClr val="0D746E"/>
                </a:solidFill>
                <a:latin typeface="Segoe UI"/>
              </a:rPr>
              <a:t>•  </a:t>
            </a:r>
            <a:r>
              <a:rPr sz="1200">
                <a:solidFill>
                  <a:srgbClr val="1F2937"/>
                </a:solidFill>
                <a:latin typeface="Segoe UI"/>
              </a:rPr>
              <a:t>Checker verdicts, editor save/read, and teacher read-only access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200" b="1">
                <a:solidFill>
                  <a:srgbClr val="0D746E"/>
                </a:solidFill>
                <a:latin typeface="Segoe UI"/>
              </a:rPr>
              <a:t>•  </a:t>
            </a:r>
            <a:r>
              <a:rPr sz="1200">
                <a:solidFill>
                  <a:srgbClr val="1F2937"/>
                </a:solidFill>
                <a:latin typeface="Segoe UI"/>
              </a:rPr>
              <a:t>Docker inventory, evidence flow, and cleanup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200" b="1">
                <a:solidFill>
                  <a:srgbClr val="0D746E"/>
                </a:solidFill>
                <a:latin typeface="Segoe UI"/>
              </a:rPr>
              <a:t>•  </a:t>
            </a:r>
            <a:r>
              <a:rPr sz="1200">
                <a:solidFill>
                  <a:srgbClr val="1F2937"/>
                </a:solidFill>
                <a:latin typeface="Segoe UI"/>
              </a:rPr>
              <a:t>A negative check: version tasks stay red until files exist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7960" y="2907792"/>
            <a:ext cx="4983480" cy="2240280"/>
          </a:xfrm>
          <a:prstGeom prst="roundRect">
            <a:avLst>
              <a:gd name="adj" fmla="val 8000"/>
            </a:avLst>
          </a:prstGeom>
          <a:solidFill>
            <a:srgbClr val="0F223A"/>
          </a:solidFill>
          <a:ln w="12700">
            <a:solidFill>
              <a:srgbClr val="0F2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12280" y="312724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EE7B7"/>
                </a:solidFill>
                <a:latin typeface="Consolas"/>
              </a:rPr>
              <a:t>SMOKE 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389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2EEF8"/>
                </a:solidFill>
                <a:latin typeface="Segoe UI"/>
              </a:rPr>
              <a:t>One command exercises the full stack: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2EEF8"/>
                </a:solidFill>
                <a:latin typeface="Segoe UI"/>
              </a:rPr>
              <a:t>provision → terminal → check → dashboard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2EEF8"/>
                </a:solidFill>
                <a:latin typeface="Segoe UI"/>
              </a:rPr>
              <a:t>→ files → Docker → evidence → cleanup.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4681728"/>
            <a:ext cx="4389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DD3FC"/>
                </a:solidFill>
                <a:latin typeface="Consolas"/>
              </a:rPr>
              <a:t>cd backend  ·  npm run smoke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2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914400" y="4389120"/>
            <a:ext cx="6766560" cy="3931920"/>
          </a:xfrm>
          <a:prstGeom prst="roundRect">
            <a:avLst>
              <a:gd name="adj" fmla="val 18000"/>
            </a:avLst>
          </a:prstGeom>
          <a:solidFill>
            <a:srgbClr val="1B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58368"/>
            <a:ext cx="658368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DD3FC"/>
                </a:solidFill>
                <a:latin typeface="Segoe UI"/>
              </a:rPr>
              <a:t>LIMITS  ·  NEXT  · 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261872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Segoe UI"/>
              </a:rPr>
              <a:t>What we would build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84831"/>
            <a:ext cx="54864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300" b="1">
                <a:solidFill>
                  <a:srgbClr val="7DD3FC"/>
                </a:solidFill>
                <a:latin typeface="Segoe UI"/>
              </a:rPr>
              <a:t>•  </a:t>
            </a:r>
            <a:r>
              <a:rPr sz="1300">
                <a:solidFill>
                  <a:srgbClr val="E2EEF8"/>
                </a:solidFill>
                <a:latin typeface="Segoe UI"/>
              </a:rPr>
              <a:t>Replace DinD with a microVM runtime for stronger isolation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300" b="1">
                <a:solidFill>
                  <a:srgbClr val="7DD3FC"/>
                </a:solidFill>
                <a:latin typeface="Segoe UI"/>
              </a:rPr>
              <a:t>•  </a:t>
            </a:r>
            <a:r>
              <a:rPr sz="1300">
                <a:solidFill>
                  <a:srgbClr val="E2EEF8"/>
                </a:solidFill>
                <a:latin typeface="Segoe UI"/>
              </a:rPr>
              <a:t>Move from SQLite to PostgreSQL for multi-instance hosting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300" b="1">
                <a:solidFill>
                  <a:srgbClr val="7DD3FC"/>
                </a:solidFill>
                <a:latin typeface="Segoe UI"/>
              </a:rPr>
              <a:t>•  </a:t>
            </a:r>
            <a:r>
              <a:rPr sz="1300">
                <a:solidFill>
                  <a:srgbClr val="E2EEF8"/>
                </a:solidFill>
                <a:latin typeface="Segoe UI"/>
              </a:rPr>
              <a:t>Add LTI / LMS integration and CSV gradebook export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300" b="1">
                <a:solidFill>
                  <a:srgbClr val="7DD3FC"/>
                </a:solidFill>
                <a:latin typeface="Segoe UI"/>
              </a:rPr>
              <a:t>•  </a:t>
            </a:r>
            <a:r>
              <a:rPr sz="1300">
                <a:solidFill>
                  <a:srgbClr val="E2EEF8"/>
                </a:solidFill>
                <a:latin typeface="Segoe UI"/>
              </a:rPr>
              <a:t>Add per-task hints, richer editor, and scheduled lab templates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074920"/>
            <a:ext cx="5577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4B2CC"/>
                </a:solidFill>
                <a:latin typeface="Segoe UI"/>
              </a:rPr>
              <a:t>VLab is a working MVP: one student, one sandbox, one live class view.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1234440"/>
            <a:ext cx="484632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146304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D746E"/>
                </a:solidFill>
                <a:latin typeface="Segoe UI"/>
              </a:rPr>
              <a:t>Project at a glance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7728" y="1810512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223A"/>
                </a:solidFill>
                <a:latin typeface="Segoe UI"/>
              </a:rPr>
              <a:t>VLab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33172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Container Based Application Development Lab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95160" y="2743200"/>
            <a:ext cx="4206240" cy="10972"/>
          </a:xfrm>
          <a:prstGeom prst="rect">
            <a:avLst/>
          </a:prstGeom>
          <a:solidFill>
            <a:srgbClr val="D6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926080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Runtime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907792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223A"/>
                </a:solidFill>
                <a:latin typeface="Segoe UI"/>
              </a:rPr>
              <a:t>Docker Compose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3401568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Backend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383280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223A"/>
                </a:solidFill>
                <a:latin typeface="Segoe UI"/>
              </a:rPr>
              <a:t>Node 22 · Express 5 · Prisma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3877056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Frontend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858768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223A"/>
                </a:solidFill>
                <a:latin typeface="Segoe UI"/>
              </a:rPr>
              <a:t>React 19 · Vite · Tailwind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4352544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Isolation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4334256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223A"/>
                </a:solidFill>
                <a:latin typeface="Segoe UI"/>
              </a:rPr>
              <a:t>One DinD sandbox per student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4828032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Segoe UI"/>
              </a:rPr>
              <a:t>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4809744"/>
            <a:ext cx="3063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223A"/>
                </a:solidFill>
                <a:latin typeface="Segoe UI"/>
              </a:rPr>
              <a:t>Basic Linux &amp; Docker tour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525780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D746E"/>
                </a:solidFill>
                <a:latin typeface="Segoe UI"/>
              </a:rPr>
              <a:t>Thank you  ·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