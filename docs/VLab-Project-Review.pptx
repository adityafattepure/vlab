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VLab is a classroom-first Docker lab. The key idea is one disposable container per student plus a teacher view that shows real state, not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around classroom friction, not just Docker. The teacher needs visibility and trustworthy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differentiator is the class workflow: join by code, start a lab, get checked, submit evidence, and let the teacher see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boundaries. The most important security sentence is that students never receive the Docker socket; the backend owns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feature map. Keep each module to one sentence; the next slides show the two main user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student journey. The terminal screenshot is a real build inside the sandbox; the code strip is the simple demo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teacher view is the strongest differentiator. Point out progress, last command, evidence, and read-only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trade-off: this is safe for a classroom demo, not for arbitrary hostile users. Production would use microVMs or dedicated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evidence. The smoke test is the strongest proof because it uses the real API, real WebSocket, real container, and real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trade-off and the roadmap. Emphasise that the MVP is real: the demo runs a container, checks state, and shows the teacher the same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-1097280"/>
            <a:ext cx="5669280" cy="8778240"/>
          </a:xfrm>
          <a:prstGeom prst="roundRect">
            <a:avLst>
              <a:gd name="adj" fmla="val 16000"/>
            </a:avLst>
          </a:prstGeom>
          <a:solidFill>
            <a:srgbClr val="1B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658368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Segoe UI"/>
              </a:rPr>
              <a:t>CBAD MINI PROJECT  · 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25296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Segoe UI"/>
              </a:rPr>
              <a:t>VLab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2EEF8"/>
                </a:solidFill>
                <a:latin typeface="Segoe UI"/>
              </a:rPr>
              <a:t>A container-based virtual lab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2EEF8"/>
                </a:solidFill>
                <a:latin typeface="Segoe UI"/>
              </a:rPr>
              <a:t>with live teacher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B2CC"/>
                </a:solidFill>
                <a:latin typeface="Segoe UI"/>
              </a:rPr>
              <a:t>One disposable Docker sandbox per student.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B2CC"/>
                </a:solidFill>
                <a:latin typeface="Segoe UI"/>
              </a:rPr>
              <a:t>One live view of the whole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159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A5F3FC"/>
                </a:solidFill>
                <a:latin typeface="Segoe UI"/>
              </a:rPr>
              <a:t>Node 22 + 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31596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A5F3FC"/>
                </a:solidFill>
                <a:latin typeface="Segoe UI"/>
              </a:rPr>
              <a:t>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3159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E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A5F3FC"/>
                </a:solidFill>
                <a:latin typeface="Segoe UI"/>
              </a:rPr>
              <a:t>Docker-in-Docker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93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D3FC"/>
                </a:solidFill>
                <a:latin typeface="Consolas"/>
              </a:rPr>
              <a:t>http://localhost:5173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B2CC"/>
                </a:solidFill>
                <a:latin typeface="Segoe UI"/>
              </a:rPr>
              <a:t>Project review  · 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5704" y="1033272"/>
            <a:ext cx="4846320" cy="4480560"/>
          </a:xfrm>
          <a:prstGeom prst="roundRect">
            <a:avLst>
              <a:gd name="adj" fmla="val 4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960120"/>
            <a:ext cx="484632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9128" y="978408"/>
            <a:ext cx="4809744" cy="228600"/>
          </a:xfrm>
          <a:prstGeom prst="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8856" y="1051560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16" y="1051560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3176" y="1051560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71904"/>
            <a:ext cx="4754880" cy="3103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20840" y="5522976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B2CC"/>
                </a:solidFill>
                <a:latin typeface="Segoe UI"/>
              </a:rPr>
              <a:t>Sign in as a teacher or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Docker labs break before the learning starts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1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23A"/>
                </a:solidFill>
                <a:latin typeface="Segoe UI"/>
              </a:rPr>
              <a:t>Setup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23744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Docker Desktop, ports, images, and permissions differ on every laptop. One broken install stalls the practical.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55448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37360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1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23A"/>
                </a:solidFill>
                <a:latin typeface="Segoe UI"/>
              </a:rPr>
              <a:t>No live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523744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The teacher cannot see who is running commands, who is stuck, or which task is failing right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55448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737360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084831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23A"/>
                </a:solidFill>
                <a:latin typeface="Segoe UI"/>
              </a:rPr>
              <a:t>Manual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23744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End-of-lab screenshots are easy to fake, slow to collect, and hard to review consistently.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407408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 w="12700">
            <a:solidFill>
              <a:srgbClr val="A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746E"/>
                </a:solidFill>
                <a:latin typeface="Segoe UI"/>
              </a:rPr>
              <a:t>VLab gives every student a disposable container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746E"/>
                </a:solidFill>
                <a:latin typeface="Segoe UI"/>
              </a:rPr>
              <a:t>and gives the teacher one live view of the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A class workflow around a disposable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1481328"/>
            <a:ext cx="347472" cy="347472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Isolated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73736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Each student gets a private Docker-in-Docker container. Their work never touches the host.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551176"/>
            <a:ext cx="347472" cy="347472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532888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Everything in the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80720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Terminal, file editor, and read-only Docker inventory in one lab workspace.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621024"/>
            <a:ext cx="347472" cy="347472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602736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Checks inspect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7705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Tasks verify files and containers, not keystrokes, so completion is honest and repeatable.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4690872"/>
            <a:ext cx="347472" cy="347472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672584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Teacher in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94690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Live roster, task progress, last command, evidence review, and read-only inspection.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6984" y="1463040"/>
            <a:ext cx="6035040" cy="4480560"/>
          </a:xfrm>
          <a:prstGeom prst="roundRect">
            <a:avLst>
              <a:gd name="adj" fmla="val 4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2120" y="1389888"/>
            <a:ext cx="603504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50408" y="1408176"/>
            <a:ext cx="5998464" cy="228600"/>
          </a:xfrm>
          <a:prstGeom prst="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0136" y="1481328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7296" y="1481328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34456" y="1481328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tudent-l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13687"/>
            <a:ext cx="5943600" cy="38798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5952744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Student workspace: assignments, task progress, and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Three boundaries: browser, backend,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423160" cy="2103120"/>
          </a:xfrm>
          <a:prstGeom prst="roundRect">
            <a:avLst>
              <a:gd name="adj" fmla="val 8000"/>
            </a:avLst>
          </a:prstGeom>
          <a:solidFill>
            <a:srgbClr val="0F223A"/>
          </a:solidFill>
          <a:ln w="12700">
            <a:solidFill>
              <a:srgbClr val="0F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React 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xterm.js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CodeMirror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01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DD3FC"/>
                </a:solidFill>
                <a:latin typeface="Segoe UI"/>
              </a:rPr>
              <a:t>No Docker socket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90088" y="2468880"/>
            <a:ext cx="274320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1" y="1600200"/>
            <a:ext cx="2423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1" y="1810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Frontend +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1" y="2176272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nginx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Express 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REST + WebSocket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1" y="33101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Auth and ownership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59" y="2468880"/>
            <a:ext cx="274320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1600200"/>
            <a:ext cx="2423160" cy="2103120"/>
          </a:xfrm>
          <a:prstGeom prst="roundRect">
            <a:avLst>
              <a:gd name="adj" fmla="val 8000"/>
            </a:avLst>
          </a:prstGeom>
          <a:solidFill>
            <a:srgbClr val="0F223A"/>
          </a:solidFill>
          <a:ln w="12700">
            <a:solidFill>
              <a:srgbClr val="0F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10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Docker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176272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dockerode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Host daemon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FCDE1"/>
                </a:solidFill>
                <a:latin typeface="Segoe UI"/>
              </a:rPr>
              <a:t>Resource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3101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DD3FC"/>
                </a:solidFill>
                <a:latin typeface="Segoe UI"/>
              </a:rPr>
              <a:t>Only the backend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14232" y="2468880"/>
            <a:ext cx="274320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9136" y="1600200"/>
            <a:ext cx="2423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1810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Student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176272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DinD container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Inner daemon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Private /root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3101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One per student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005072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16052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Control plane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25696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Segoe UI"/>
              </a:rPr>
              <a:t>JWT auth · class membership · session lifecycle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Segoe UI"/>
              </a:rPr>
              <a:t>checker · file read/write · Docker inventory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005072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6052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Data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25696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Segoe UI"/>
              </a:rPr>
              <a:t>WebSocket terminal · docker exec · fixed commands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Segoe UI"/>
              </a:rPr>
              <a:t>per-session checks · read-only teacher attach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046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The terminal is a docker exec into the student's own container. The browser never receives /var/run/docker.sock.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INSIDE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Small modules with clear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08760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08760"/>
            <a:ext cx="54864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709928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Labs &amp; assignments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0756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Handout labs, a short demo tour, and practice labs. Exact task steps and due 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08760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54864" cy="16002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1709928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Checker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0756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15 s timeout, serialized per session, 30 s background loop plus a manual check button.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508760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508760"/>
            <a:ext cx="54864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1709928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07568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xterm.js over WebSocket, shared exec, scrollback, and read-only teacher attach.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83279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83279"/>
            <a:ext cx="54864" cy="16002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84447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Workspace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950207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/root file listing, UTF-8 reads/writes, 256 KiB cap, teacher read-only.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3383279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3383279"/>
            <a:ext cx="54864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6" y="3584447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Docker 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3950207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Fixed ps / images / networks / volumes commands, capped at 200 rows.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3383279"/>
            <a:ext cx="349300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3" y="3383279"/>
            <a:ext cx="54864" cy="16002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3584447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23A"/>
                </a:solidFill>
                <a:latin typeface="Segoe UI"/>
              </a:rPr>
              <a:t>Evidence &amp; grades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3950207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Uploads, feedback, protected downloads, and a student-visible grade.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5046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No arbitrary Docker API proxy. No host shell. No student access to the host daemon.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STUDENT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From join code to checked work in one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1481328"/>
            <a:ext cx="310896" cy="310896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472184"/>
            <a:ext cx="44074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23A"/>
                </a:solidFill>
                <a:latin typeface="Segoe UI"/>
              </a:rPr>
              <a:t>Join the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700784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Use the class code, or sign in with a seeded student account.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194560"/>
            <a:ext cx="310896" cy="310896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185416"/>
            <a:ext cx="44074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23A"/>
                </a:solidFill>
                <a:latin typeface="Segoe UI"/>
              </a:rPr>
              <a:t>Start a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41401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VLab provisions a private DinD container and waits for the inner daemon.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907792"/>
            <a:ext cx="310896" cy="310896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898648"/>
            <a:ext cx="44074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23A"/>
                </a:solidFill>
                <a:latin typeface="Segoe UI"/>
              </a:rPr>
              <a:t>Run the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12724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Use the live terminal, or edit files in the Code tab.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3621024"/>
            <a:ext cx="310896" cy="310896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611880"/>
            <a:ext cx="44074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23A"/>
                </a:solidFill>
                <a:latin typeface="Segoe UI"/>
              </a:rPr>
              <a:t>Check my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384048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State-based checks turn green when the files and containers exist.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" y="4334256"/>
            <a:ext cx="310896" cy="310896"/>
          </a:xfrm>
          <a:prstGeom prst="ellipse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325112"/>
            <a:ext cx="440740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23A"/>
                </a:solidFill>
                <a:latin typeface="Segoe UI"/>
              </a:rPr>
              <a:t>Submit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553712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Attach a screenshot or PDF; the teacher can review and grade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212080"/>
            <a:ext cx="4709160" cy="932688"/>
          </a:xfrm>
          <a:prstGeom prst="roundRect">
            <a:avLst>
              <a:gd name="adj" fmla="val 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303520"/>
            <a:ext cx="441655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1FAE5"/>
                </a:solidFill>
                <a:latin typeface="Consolas"/>
              </a:rPr>
              <a:t>docker run -d --name basic-web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1FAE5"/>
                </a:solidFill>
                <a:latin typeface="Consolas"/>
              </a:rPr>
              <a:t>  -p 8080:80 nginx:alpine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1FAE5"/>
                </a:solidFill>
                <a:latin typeface="Consolas"/>
              </a:rPr>
              <a:t>curl -fsS http://localhost:8080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1FAE5"/>
                </a:solidFill>
                <a:latin typeface="Consolas"/>
              </a:rPr>
              <a:t>  &gt; /root/demo/page.html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50992" y="1490472"/>
            <a:ext cx="5989320" cy="4572000"/>
          </a:xfrm>
          <a:prstGeom prst="roundRect">
            <a:avLst>
              <a:gd name="adj" fmla="val 4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96128" y="1417320"/>
            <a:ext cx="598932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14416" y="1435608"/>
            <a:ext cx="5952744" cy="228600"/>
          </a:xfrm>
          <a:prstGeom prst="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24144" y="1508760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61304" y="1508760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98464" y="1508760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tudent-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901761"/>
            <a:ext cx="5897880" cy="385000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96128" y="6071616"/>
            <a:ext cx="5989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A real shell in the browser, connected to the student's container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TEACHER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See the class, not just the final 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90472"/>
            <a:ext cx="6903720" cy="4572000"/>
          </a:xfrm>
          <a:prstGeom prst="roundRect">
            <a:avLst>
              <a:gd name="adj" fmla="val 4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17320"/>
            <a:ext cx="690372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1435608"/>
            <a:ext cx="6867144" cy="228600"/>
          </a:xfrm>
          <a:prstGeom prst="rect">
            <a:avLst/>
          </a:prstGeom>
          <a:solidFill>
            <a:srgbClr val="EB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" y="1508760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" y="1508760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1508760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acher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83" y="1719072"/>
            <a:ext cx="6457609" cy="42153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071616"/>
            <a:ext cx="6903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Four classes, live labs, and evidence waiting for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536192"/>
            <a:ext cx="1051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6093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23A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9751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classes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523744"/>
            <a:ext cx="1051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259689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23A"/>
                </a:solidFill>
                <a:latin typeface="Segoe U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962656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seeded 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511296"/>
            <a:ext cx="1051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58444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23A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95020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live lab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498848"/>
            <a:ext cx="10515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457200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23A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493776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to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554480"/>
            <a:ext cx="2560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000">
                <a:solidFill>
                  <a:srgbClr val="1F2937"/>
                </a:solidFill>
                <a:latin typeface="Segoe UI"/>
              </a:rPr>
              <a:t>Roster grid with per-task ticks and progress %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000">
                <a:solidFill>
                  <a:srgbClr val="1F2937"/>
                </a:solidFill>
                <a:latin typeface="Segoe UI"/>
              </a:rPr>
              <a:t>Last command and last activity for each student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000">
                <a:solidFill>
                  <a:srgbClr val="1F2937"/>
                </a:solidFill>
                <a:latin typeface="Segoe UI"/>
              </a:rPr>
              <a:t>Read-only terminal, files, and Docker inventory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0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000">
                <a:solidFill>
                  <a:srgbClr val="1F2937"/>
                </a:solidFill>
                <a:latin typeface="Segoe UI"/>
              </a:rPr>
              <a:t>Evidence queue with feedback and grades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Isolation that fits a classroom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36192"/>
            <a:ext cx="3063240" cy="1600200"/>
          </a:xfrm>
          <a:prstGeom prst="roundRect">
            <a:avLst>
              <a:gd name="adj" fmla="val 8000"/>
            </a:avLst>
          </a:prstGeom>
          <a:solidFill>
            <a:srgbClr val="E2EEF8"/>
          </a:solidFill>
          <a:ln w="12700">
            <a:solidFill>
              <a:srgbClr val="E2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190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23A"/>
                </a:solidFill>
                <a:latin typeface="Segoe UI"/>
              </a:rP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084831"/>
            <a:ext cx="2651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JWT + role checks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No Docker socket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Teacher input dropped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39896" y="224028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40" y="1536192"/>
            <a:ext cx="3063240" cy="1600200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 w="12700">
            <a:solidFill>
              <a:srgbClr val="E0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17190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746E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2084831"/>
            <a:ext cx="2651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Owns docker.sock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Ownership checks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Fixed inventory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3176" y="224028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20" y="1536192"/>
            <a:ext cx="3063240" cy="16002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7190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Segoe UI"/>
              </a:rPr>
              <a:t>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084831"/>
            <a:ext cx="2651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1 GB / 1 CPU / 512 PIDs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Per-student DinD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Segoe UI"/>
              </a:rPr>
              <a:t>Private /root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1188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Path-normalised /root files, UTF-8 only, 256 KiB maximum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Teacher file writes return 403; teacher terminal input is dropped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Docker inventory is a fixed allowlist, not a proxy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Command logging is advisory; checks never read the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584448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7673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Segoe UI"/>
              </a:rPr>
              <a:t>Deliberate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59936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23A"/>
                </a:solidFill>
                <a:latin typeface="Segoe UI"/>
              </a:rPr>
              <a:t>DinD is privileged by design. Isolation is namespace-level, not a hostile multi-tenant boundary.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For production: microVM per student or dedicated lab hosts.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F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34747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D746E"/>
                </a:solidFill>
                <a:latin typeface="Segoe U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Verified with real containers, not mocks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PROJECT REVIEW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09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170432"/>
            <a:ext cx="1028700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VLab  ·  Container-based 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backend unit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62763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4884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smoke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62763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4/4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14884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checks in the demo 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62763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214884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frontend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7180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Login, class join, assignment visibility, and teacher dashboard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Real DinD provisioning, WebSocket terminal, and command logging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Checker verdicts, editor save/read, and teacher read-only access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Docker inventory, evidence flow, and cleanup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0D746E"/>
                </a:solidFill>
                <a:latin typeface="Segoe UI"/>
              </a:rPr>
              <a:t>•  </a:t>
            </a:r>
            <a:r>
              <a:rPr sz="1200">
                <a:solidFill>
                  <a:srgbClr val="1F2937"/>
                </a:solidFill>
                <a:latin typeface="Segoe UI"/>
              </a:rPr>
              <a:t>A negative check: version tasks stay red until files exist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907792"/>
            <a:ext cx="4983480" cy="2240280"/>
          </a:xfrm>
          <a:prstGeom prst="roundRect">
            <a:avLst>
              <a:gd name="adj" fmla="val 8000"/>
            </a:avLst>
          </a:prstGeom>
          <a:solidFill>
            <a:srgbClr val="0F223A"/>
          </a:solidFill>
          <a:ln w="12700">
            <a:solidFill>
              <a:srgbClr val="0F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1272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EE7B7"/>
                </a:solidFill>
                <a:latin typeface="Consolas"/>
              </a:rPr>
              <a:t>SMOKE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EF8"/>
                </a:solidFill>
                <a:latin typeface="Segoe UI"/>
              </a:rPr>
              <a:t>One command exercises the full stack: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EF8"/>
                </a:solidFill>
                <a:latin typeface="Segoe UI"/>
              </a:rPr>
              <a:t>provision → terminal → check → dashboard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EF8"/>
                </a:solidFill>
                <a:latin typeface="Segoe UI"/>
              </a:rPr>
              <a:t>→ files → Docker → evidence → cleanup.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8172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cd backend  ·  npm run smoke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4389120"/>
            <a:ext cx="6766560" cy="3931920"/>
          </a:xfrm>
          <a:prstGeom prst="roundRect">
            <a:avLst>
              <a:gd name="adj" fmla="val 18000"/>
            </a:avLst>
          </a:prstGeom>
          <a:solidFill>
            <a:srgbClr val="1B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658368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DD3FC"/>
                </a:solidFill>
                <a:latin typeface="Segoe UI"/>
              </a:rPr>
              <a:t>LIMITS  ·  NEXT  · 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6187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What we would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84831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•  </a:t>
            </a:r>
            <a:r>
              <a:rPr sz="1300">
                <a:solidFill>
                  <a:srgbClr val="E2EEF8"/>
                </a:solidFill>
                <a:latin typeface="Segoe UI"/>
              </a:rPr>
              <a:t>Replace DinD with a microVM runtime for stronger isolation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•  </a:t>
            </a:r>
            <a:r>
              <a:rPr sz="1300">
                <a:solidFill>
                  <a:srgbClr val="E2EEF8"/>
                </a:solidFill>
                <a:latin typeface="Segoe UI"/>
              </a:rPr>
              <a:t>Move from SQLite to PostgreSQL for multi-instance hosting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•  </a:t>
            </a:r>
            <a:r>
              <a:rPr sz="1300">
                <a:solidFill>
                  <a:srgbClr val="E2EEF8"/>
                </a:solidFill>
                <a:latin typeface="Segoe UI"/>
              </a:rPr>
              <a:t>Add LTI / LMS integration and CSV gradebook export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7DD3FC"/>
                </a:solidFill>
                <a:latin typeface="Segoe UI"/>
              </a:rPr>
              <a:t>•  </a:t>
            </a:r>
            <a:r>
              <a:rPr sz="1300">
                <a:solidFill>
                  <a:srgbClr val="E2EEF8"/>
                </a:solidFill>
                <a:latin typeface="Segoe UI"/>
              </a:rPr>
              <a:t>Add per-task hints, richer editor, and scheduled lab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B2CC"/>
                </a:solidFill>
                <a:latin typeface="Segoe UI"/>
              </a:rPr>
              <a:t>VLab is a working MVP: one student, one sandbox, one live class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4630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746E"/>
                </a:solidFill>
                <a:latin typeface="Segoe UI"/>
              </a:rPr>
              <a:t>Project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81051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23A"/>
                </a:solidFill>
                <a:latin typeface="Segoe UI"/>
              </a:rPr>
              <a:t>VLab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31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Container Based Application Development 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2743200"/>
            <a:ext cx="4206240" cy="10972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926080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07792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23A"/>
                </a:solidFill>
                <a:latin typeface="Segoe UI"/>
              </a:rPr>
              <a:t>Docker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401568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83280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23A"/>
                </a:solidFill>
                <a:latin typeface="Segoe UI"/>
              </a:rPr>
              <a:t>Node 22 · Express 5 · Prisma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87705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58768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23A"/>
                </a:solidFill>
                <a:latin typeface="Segoe UI"/>
              </a:rPr>
              <a:t>React 19 · Vite · 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3525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334256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23A"/>
                </a:solidFill>
                <a:latin typeface="Segoe UI"/>
              </a:rPr>
              <a:t>One DinD sandbox per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82803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Segoe UI"/>
              </a:rPr>
              <a:t>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809744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23A"/>
                </a:solidFill>
                <a:latin typeface="Segoe UI"/>
              </a:rPr>
              <a:t>Basic Linux &amp; Docker tour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2578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746E"/>
                </a:solidFill>
                <a:latin typeface="Segoe U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